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Roboto Condensed" panose="020B0604020202020204" charset="0"/>
      <p:regular r:id="rId17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52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31130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99280" y="2306677"/>
            <a:ext cx="7556421" cy="2480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СРАВНЕНИЕ МАРКЕТПЛЕЙСОВ: </a:t>
            </a:r>
            <a:r>
              <a:rPr lang="en-US" sz="3900" b="1" i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WILDBERRIES, OZON, </a:t>
            </a:r>
            <a:r>
              <a:rPr lang="en-US" sz="39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ЯНДЕКС МАРКЕТ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280190" y="5186243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Подробный анализ комиссий, аудитории, условий, а также плюсов и минусов каждой из ведущих российских онлайн-площадок.</a:t>
            </a:r>
            <a:endParaRPr lang="en-US" sz="155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BD86743-89B8-4E70-B482-71AC363A9D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52500"/>
            <a:ext cx="6032500" cy="568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95162"/>
            <a:ext cx="1284720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КЛЮЧЕВЫЕ ИГРОКИ РОССИЙСКОГО E-COMMERCE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312075"/>
            <a:ext cx="130428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Российский рынок электронной коммерции стремительно развивается, и три гиганта — Wildberries, Ozon и Яндекс Маркет — формируют его ландшафт. Понимание их особенностей критически важно для любого продавца, стремящегося к успеху в онлайн-торговле. Выбор правильной площадки — это не просто вопрос размещения товара, а стратегическое решение, которое может определить траекторию роста вашего бизнеса.</a:t>
            </a:r>
            <a:endParaRPr lang="en-US" sz="1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487936"/>
            <a:ext cx="2425660" cy="14991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523505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WILDBERRIES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793790" y="5664279"/>
            <a:ext cx="4182189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Безусловный лидер по обороту и количеству заказов, занимающий около 58% рынка. Известен широким ассортиментом и доступными ценами.</a:t>
            </a:r>
            <a:endParaRPr lang="en-US" sz="15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3986" y="3487936"/>
            <a:ext cx="2425660" cy="149911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23986" y="523505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OZON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5223986" y="5664279"/>
            <a:ext cx="4182308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Универсальный маркетплейс, отличающийся развитой логистикой, широким спектром сервисов и постоянным расширением категорий товаров.</a:t>
            </a:r>
            <a:endParaRPr lang="en-US" sz="15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4302" y="3487936"/>
            <a:ext cx="2425660" cy="149911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54302" y="523505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ЯНДЕКС МАРКЕТ</a:t>
            </a:r>
            <a:endParaRPr lang="en-US" sz="1950" dirty="0"/>
          </a:p>
        </p:txBody>
      </p:sp>
      <p:sp>
        <p:nvSpPr>
          <p:cNvPr id="12" name="Text 7"/>
          <p:cNvSpPr/>
          <p:nvPr/>
        </p:nvSpPr>
        <p:spPr>
          <a:xfrm>
            <a:off x="9654302" y="5664279"/>
            <a:ext cx="4182308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Технологичный агрегатор, входящий в экосистему Яндекса, с акцентом на удобство для пользователя и мощные аналитические инструменты.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71136"/>
            <a:ext cx="10218896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АУДИТОРИЯ И ПРОФИЛЬ ПОКУПАТЕЛЕЙ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488049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Понимание вашей целевой аудитории и её предпочтений является краеугольным камнем успешной стратегии на маркетплейсе. Каждый из трёх лидеров привлекает свой уникальный сегмент покупателей.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3346371"/>
            <a:ext cx="4215289" cy="3411974"/>
          </a:xfrm>
          <a:prstGeom prst="roundRect">
            <a:avLst>
              <a:gd name="adj" fmla="val 3216"/>
            </a:avLst>
          </a:prstGeom>
          <a:solidFill>
            <a:srgbClr val="E8E8E3"/>
          </a:solidFill>
          <a:ln w="22860">
            <a:solidFill>
              <a:srgbClr val="C8CA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0930" y="3346371"/>
            <a:ext cx="91440" cy="3411974"/>
          </a:xfrm>
          <a:prstGeom prst="roundRect">
            <a:avLst>
              <a:gd name="adj" fmla="val 32558"/>
            </a:avLst>
          </a:prstGeom>
          <a:solidFill>
            <a:srgbClr val="C8CAC1"/>
          </a:solidFill>
          <a:ln/>
        </p:spPr>
      </p:sp>
      <p:sp>
        <p:nvSpPr>
          <p:cNvPr id="6" name="Text 4"/>
          <p:cNvSpPr/>
          <p:nvPr/>
        </p:nvSpPr>
        <p:spPr>
          <a:xfrm>
            <a:off x="1083588" y="356758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WILDBERRIES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083588" y="3996809"/>
            <a:ext cx="3704273" cy="2222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Привлекает широкую аудиторию, преимущественно женщин в возрасте 25-45 лет из всех регионов России. Они активно ищут низкие цены, скидки и акции. Продукция для семьи, одежда, обувь, косметика и товары для дома пользуются наибольшим спросом.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207437" y="3346371"/>
            <a:ext cx="4215408" cy="3411974"/>
          </a:xfrm>
          <a:prstGeom prst="roundRect">
            <a:avLst>
              <a:gd name="adj" fmla="val 3216"/>
            </a:avLst>
          </a:prstGeom>
          <a:solidFill>
            <a:srgbClr val="E8E8E3"/>
          </a:solidFill>
          <a:ln w="22860">
            <a:solidFill>
              <a:srgbClr val="C8CAC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84577" y="3346371"/>
            <a:ext cx="91440" cy="3411974"/>
          </a:xfrm>
          <a:prstGeom prst="roundRect">
            <a:avLst>
              <a:gd name="adj" fmla="val 32558"/>
            </a:avLst>
          </a:prstGeom>
          <a:solidFill>
            <a:srgbClr val="C8CAC1"/>
          </a:solidFill>
          <a:ln/>
        </p:spPr>
      </p:sp>
      <p:sp>
        <p:nvSpPr>
          <p:cNvPr id="10" name="Text 8"/>
          <p:cNvSpPr/>
          <p:nvPr/>
        </p:nvSpPr>
        <p:spPr>
          <a:xfrm>
            <a:off x="5497235" y="356758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OZON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5497235" y="3996809"/>
            <a:ext cx="3704392" cy="2222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Ориентирован на семьи со средним уровнем дохода, которые ценят сбалансированный ассортимент, высокий уровень сервиса и надёжность доставки. Здесь можно найти как повседневные товары, так и электронику, бытовую технику и детские принадлежности.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9621203" y="3346371"/>
            <a:ext cx="4215289" cy="3411974"/>
          </a:xfrm>
          <a:prstGeom prst="roundRect">
            <a:avLst>
              <a:gd name="adj" fmla="val 3216"/>
            </a:avLst>
          </a:prstGeom>
          <a:solidFill>
            <a:srgbClr val="E8E8E3"/>
          </a:solidFill>
          <a:ln w="22860">
            <a:solidFill>
              <a:srgbClr val="C8CAC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598343" y="3346371"/>
            <a:ext cx="91440" cy="3411974"/>
          </a:xfrm>
          <a:prstGeom prst="roundRect">
            <a:avLst>
              <a:gd name="adj" fmla="val 32558"/>
            </a:avLst>
          </a:prstGeom>
          <a:solidFill>
            <a:srgbClr val="C8CAC1"/>
          </a:solidFill>
          <a:ln/>
        </p:spPr>
      </p:sp>
      <p:sp>
        <p:nvSpPr>
          <p:cNvPr id="14" name="Text 12"/>
          <p:cNvSpPr/>
          <p:nvPr/>
        </p:nvSpPr>
        <p:spPr>
          <a:xfrm>
            <a:off x="9911001" y="356758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ЯНДЕКС МАРКЕТ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911001" y="3996809"/>
            <a:ext cx="3704273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Привлекает более технологичных пользователей из крупных городов, чаще мужчин в возрасте 25-40 лет. Эта аудитория ценит удобство выбора, скорость оформления заказа и наличие подробной информации о товарах. Здесь часто ищут электронику, гаджеты и товары, требующие детального изучения характеристик.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76312" y="1598295"/>
            <a:ext cx="6587133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КОМИССИИ И ФИНАНСОВЫЕ УСЛОВИЯ (2025)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2876312" y="2077760"/>
            <a:ext cx="8877657" cy="28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Структура комиссий и финансовых условий является одним из ключевых факторов при выборе маркетплейса, напрямую влияя на вашу маржинальность и ценообразование. Важно учитывать не только процент комиссии, но и дополнительные платежи за хранение, логистику и участие в акциях.</a:t>
            </a:r>
            <a:endParaRPr lang="en-US" sz="8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6312" y="2923937"/>
            <a:ext cx="5674281" cy="321540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832771" y="2503765"/>
            <a:ext cx="253246" cy="253246"/>
          </a:xfrm>
          <a:prstGeom prst="roundRect">
            <a:avLst>
              <a:gd name="adj" fmla="val 6668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9149834" y="2542461"/>
            <a:ext cx="1407200" cy="175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WILDBERRIES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9149834" y="2782133"/>
            <a:ext cx="2611636" cy="9884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Применяет единую комиссию, которая может достигать 25% в зависимости от категории товара. Дополнительно взимается плата за хранение на складе и логистику. Площадка активно стимулирует продавцов к участию в акциях и распродажах, предоставляя скидки до 30%, что может влиять на итоговую прибыльность.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8832771" y="3898225"/>
            <a:ext cx="253246" cy="253246"/>
          </a:xfrm>
          <a:prstGeom prst="roundRect">
            <a:avLst>
              <a:gd name="adj" fmla="val 6668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9149834" y="3936921"/>
            <a:ext cx="1407200" cy="175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OZON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149834" y="4176593"/>
            <a:ext cx="2611636" cy="9884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Диапазон комиссии составляет от 5% до 20%, также с оплатой за хранение и доставку. Ozon предлагает более гибкие тарифы и активно внедряет различные схемы работы. Площадка известна строгим контролем качества товаров и обслуживания, что может потребовать дополнительных инвестиций в упаковку и сервис.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8832771" y="5292685"/>
            <a:ext cx="253246" cy="253246"/>
          </a:xfrm>
          <a:prstGeom prst="roundRect">
            <a:avLst>
              <a:gd name="adj" fmla="val 6668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9149834" y="5331381"/>
            <a:ext cx="1407200" cy="175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ЯНДЕКС МАРКЕТ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149834" y="5571053"/>
            <a:ext cx="2611636" cy="9884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Комиссия взимается только с продажи и варьируется от 5% до 15%. Отличительной особенностью является то, что продавец может самостоятельно организовывать логистику или использовать партнёрские службы. Это даёт больше контроля над расходами на доставку и сроками, но требует большей операционной вовлечённости.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14193" y="614482"/>
            <a:ext cx="7463671" cy="412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ЛОГИСТИКА И МОДЕЛИ РАБОТЫ С ТОВАРОМ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2114193" y="1201936"/>
            <a:ext cx="10401895" cy="351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Выбор модели логистики существенно влияет на операционную нагрузку продавца и скорость доставки товаров до покупателя. Каждый маркетплейс предлагает свои варианты, адаптированные под различные потребности бизнеса.</a:t>
            </a:r>
            <a:endParaRPr lang="en-US" sz="1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2191" y="1651754"/>
            <a:ext cx="8145899" cy="329862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848203" y="2830421"/>
            <a:ext cx="1826983" cy="292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FBO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3848203" y="3206187"/>
            <a:ext cx="1826983" cy="58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Marketplace stores inventory; handles fulfillment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410465" y="2825220"/>
            <a:ext cx="1826983" cy="292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FBS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410465" y="3200986"/>
            <a:ext cx="1826983" cy="584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Seller stores inventory; marketplace fulfills orders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976302" y="2917374"/>
            <a:ext cx="1826983" cy="292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DBS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976302" y="3293140"/>
            <a:ext cx="1826983" cy="389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Seller stores and fulfills; marketplace lists only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114193" y="5246727"/>
            <a:ext cx="3408878" cy="2368391"/>
          </a:xfrm>
          <a:prstGeom prst="roundRect">
            <a:avLst>
              <a:gd name="adj" fmla="val 3089"/>
            </a:avLst>
          </a:prstGeom>
          <a:solidFill>
            <a:srgbClr val="E8E8E3"/>
          </a:solidFill>
          <a:ln/>
        </p:spPr>
      </p:sp>
      <p:sp>
        <p:nvSpPr>
          <p:cNvPr id="12" name="Shape 9"/>
          <p:cNvSpPr/>
          <p:nvPr/>
        </p:nvSpPr>
        <p:spPr>
          <a:xfrm>
            <a:off x="2114193" y="5231487"/>
            <a:ext cx="3408878" cy="60960"/>
          </a:xfrm>
          <a:prstGeom prst="roundRect">
            <a:avLst>
              <a:gd name="adj" fmla="val 32458"/>
            </a:avLst>
          </a:prstGeom>
          <a:solidFill>
            <a:srgbClr val="C8CAC1"/>
          </a:solidFill>
          <a:ln/>
        </p:spPr>
      </p:sp>
      <p:sp>
        <p:nvSpPr>
          <p:cNvPr id="13" name="Shape 10"/>
          <p:cNvSpPr/>
          <p:nvPr/>
        </p:nvSpPr>
        <p:spPr>
          <a:xfrm>
            <a:off x="3620750" y="5048964"/>
            <a:ext cx="395645" cy="395645"/>
          </a:xfrm>
          <a:prstGeom prst="roundRect">
            <a:avLst>
              <a:gd name="adj" fmla="val 231116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3739455" y="5147905"/>
            <a:ext cx="158234" cy="197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261235" y="5576411"/>
            <a:ext cx="1648778" cy="206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WILDBERRIES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2261235" y="5835015"/>
            <a:ext cx="3114794" cy="878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FBO (Fulfillment by Operator):</a:t>
            </a:r>
            <a:r>
              <a:rPr lang="en-US" sz="10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продавец передаёт товары на склад маркетплейса, который берёт на себя всю логистику, включая хранение, упаковку и доставку. Это снимает с продавца нагрузку, но требует тщательного контроля остатков.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2261235" y="6765608"/>
            <a:ext cx="3114794" cy="702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FBS (Fulfillment by Seller):</a:t>
            </a:r>
            <a:r>
              <a:rPr lang="en-US" sz="10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продавец хранит товары на своём складе и самостоятельно доставляет их до сортировочного центра Wildberries для дальнейшей отправки покупателю.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610701" y="5246727"/>
            <a:ext cx="3408878" cy="2368391"/>
          </a:xfrm>
          <a:prstGeom prst="roundRect">
            <a:avLst>
              <a:gd name="adj" fmla="val 3089"/>
            </a:avLst>
          </a:prstGeom>
          <a:solidFill>
            <a:srgbClr val="E8E8E3"/>
          </a:solidFill>
          <a:ln/>
        </p:spPr>
      </p:sp>
      <p:sp>
        <p:nvSpPr>
          <p:cNvPr id="19" name="Shape 16"/>
          <p:cNvSpPr/>
          <p:nvPr/>
        </p:nvSpPr>
        <p:spPr>
          <a:xfrm>
            <a:off x="5610701" y="5231487"/>
            <a:ext cx="3408878" cy="60960"/>
          </a:xfrm>
          <a:prstGeom prst="roundRect">
            <a:avLst>
              <a:gd name="adj" fmla="val 32458"/>
            </a:avLst>
          </a:prstGeom>
          <a:solidFill>
            <a:srgbClr val="C8CAC1"/>
          </a:solidFill>
          <a:ln/>
        </p:spPr>
      </p:sp>
      <p:sp>
        <p:nvSpPr>
          <p:cNvPr id="20" name="Shape 17"/>
          <p:cNvSpPr/>
          <p:nvPr/>
        </p:nvSpPr>
        <p:spPr>
          <a:xfrm>
            <a:off x="7117259" y="5048964"/>
            <a:ext cx="395645" cy="395645"/>
          </a:xfrm>
          <a:prstGeom prst="roundRect">
            <a:avLst>
              <a:gd name="adj" fmla="val 231116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7235964" y="5147905"/>
            <a:ext cx="158234" cy="197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757743" y="5576411"/>
            <a:ext cx="1648778" cy="206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OZON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5757743" y="5835015"/>
            <a:ext cx="3114794" cy="526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FBO (Fulfillment by Ozon):</a:t>
            </a:r>
            <a:r>
              <a:rPr lang="en-US" sz="10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аналогично Wildberries, Ozon предлагает полное фулфилмент-обслуживание. Это удобно для товаров с высокой оборачиваемостью.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757743" y="6414373"/>
            <a:ext cx="3114794" cy="878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rFBS (Real Fulfillment by Seller):</a:t>
            </a:r>
            <a:r>
              <a:rPr lang="en-US" sz="10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модель, при которой продавец самостоятельно упаковывает и передаёт товары напрямую в пункты выдачи или курьерскую службу Ozon. Эта модель предполагает более строгий контроль со стороны Ozon за соблюдением сроков.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9107210" y="5246727"/>
            <a:ext cx="3408878" cy="2368391"/>
          </a:xfrm>
          <a:prstGeom prst="roundRect">
            <a:avLst>
              <a:gd name="adj" fmla="val 3089"/>
            </a:avLst>
          </a:prstGeom>
          <a:solidFill>
            <a:srgbClr val="E8E8E3"/>
          </a:solidFill>
          <a:ln/>
        </p:spPr>
      </p:sp>
      <p:sp>
        <p:nvSpPr>
          <p:cNvPr id="26" name="Shape 23"/>
          <p:cNvSpPr/>
          <p:nvPr/>
        </p:nvSpPr>
        <p:spPr>
          <a:xfrm>
            <a:off x="9107210" y="5231487"/>
            <a:ext cx="3408878" cy="60960"/>
          </a:xfrm>
          <a:prstGeom prst="roundRect">
            <a:avLst>
              <a:gd name="adj" fmla="val 32458"/>
            </a:avLst>
          </a:prstGeom>
          <a:solidFill>
            <a:srgbClr val="C8CAC1"/>
          </a:solidFill>
          <a:ln/>
        </p:spPr>
      </p:sp>
      <p:sp>
        <p:nvSpPr>
          <p:cNvPr id="27" name="Shape 24"/>
          <p:cNvSpPr/>
          <p:nvPr/>
        </p:nvSpPr>
        <p:spPr>
          <a:xfrm>
            <a:off x="10613767" y="5048964"/>
            <a:ext cx="395645" cy="395645"/>
          </a:xfrm>
          <a:prstGeom prst="roundRect">
            <a:avLst>
              <a:gd name="adj" fmla="val 231116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28" name="Text 25"/>
          <p:cNvSpPr/>
          <p:nvPr/>
        </p:nvSpPr>
        <p:spPr>
          <a:xfrm>
            <a:off x="10732472" y="5147905"/>
            <a:ext cx="158234" cy="197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3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9254252" y="5576411"/>
            <a:ext cx="1648778" cy="206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ЯНДЕКС МАРКЕТ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9254252" y="5835015"/>
            <a:ext cx="3114794" cy="702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DBS (Delivery by Seller):</a:t>
            </a:r>
            <a:r>
              <a:rPr lang="en-US" sz="10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продавец полностью отвечает за хранение и доставку товаров покупателю. Это даёт максимальный контроль над логистикой, но требует развитых собственных мощностей.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9254252" y="6589990"/>
            <a:ext cx="3114794" cy="702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Также есть возможность использовать </a:t>
            </a:r>
            <a:r>
              <a:rPr lang="en-US" sz="100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Яндекс.Доставку</a:t>
            </a:r>
            <a:r>
              <a:rPr lang="en-US" sz="10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— интегрированную службу доставки, что упрощает процесс для продавцов без собственной развитой логистики.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50657"/>
            <a:ext cx="9141619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СИЛЬНЫЕ СТОРОНЫ WILDBERRIES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467570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Wildberries заслужил свою лидерскую позицию благодаря ряду уникальных преимуществ, которые делают его особенно привлекательным для определённых категорий продавцов и товаров.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93790" y="3325892"/>
            <a:ext cx="13042821" cy="3175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Огромное региональное покрытие и быстрая доставка:</a:t>
            </a:r>
            <a:r>
              <a:rPr lang="en-US" sz="15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Wildberries имеет одну из самых развитых логистических сетей в стране, что позволяет доставлять заказы в кратчайшие сроки (1-3 дня) даже в отдаленные регионы. Это критически важно для удовлетворенности покупателей.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Модель FBO:</a:t>
            </a:r>
            <a:r>
              <a:rPr lang="en-US" sz="15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для многих продавцов возможность передать всю логистику на аутсорсинг маркетплейсу является решающим фактором. Wildberries берет на себя хранение, упаковку и доставку, освобождая продавца от операционных забот.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Высокий трафик и лояльность покупателей:</a:t>
            </a:r>
            <a:r>
              <a:rPr lang="en-US" sz="15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благодаря многолетнему присутствию на рынке и активной маркетинговой политике, Wildberries генерирует огромный поток покупателей, многие из которых являются постоянными и лояльными к платформе.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Идеален для массовых категорий:</a:t>
            </a:r>
            <a:r>
              <a:rPr lang="en-US" sz="15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маркетплейс показывает отличные результаты для товаров широкого потребления, таких как одежда, обувь, косметика, аксессуары, а также товары для дома и детей. Эти категории пользуются здесь стабильно высоким спросом.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Простота выхода на рынок:</a:t>
            </a:r>
            <a:r>
              <a:rPr lang="en-US" sz="15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для начинающих продавцов Wildberries часто кажется наиболее доступным вариантом для старта онлайн-продаж благодаря относительно несложным требованиям к регистрации и запуску.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50657"/>
            <a:ext cx="6737866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СИЛЬНЫЕ СТОРОНЫ OZON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467570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Ozon зарекомендовал себя как надёжная и многофункциональная платформа, привлекающая продавцов и покупателей, ценящих качество и широкий спектр услуг.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93790" y="3325892"/>
            <a:ext cx="13042821" cy="3175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Надежность и репутация:</a:t>
            </a:r>
            <a:r>
              <a:rPr lang="en-US" sz="15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Ozon обладает высокой репутацией среди покупателей и продавцов, ассоциируясь с надежностью, качеством обслуживания и безопасностью покупок. Это особенно важно для товаров в высоких ценовых категориях.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Развитая программа лояльности (Ozon Карта):</a:t>
            </a:r>
            <a:r>
              <a:rPr lang="en-US" sz="15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собственные программы лояльности, такие как Ozon Карта, стимулируют повторные покупки и создают сильное сообщество постоянных клиентов, что выгодно для продавцов.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Широкий ассортимент:</a:t>
            </a:r>
            <a:r>
              <a:rPr lang="en-US" sz="15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Ozon успешно продаёт не только массовые товары, но и сложные категории, такие как электроника, бытовая техника, крупногабаритные товары, а также эксклюзивные и нишевые продукты.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Активное развитие сервисов:</a:t>
            </a:r>
            <a:r>
              <a:rPr lang="en-US" sz="15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Ozon постоянно расширяет свою экосистему, предлагая клиентам и продавцам дополнительные сервисы: финтех-продукты, онлайн-путешествия, экспресс-доставку и многое другое. Это увеличивает общую привлекательность платформы.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Подходит для сложных и нишевых товаров:</a:t>
            </a:r>
            <a:r>
              <a:rPr lang="en-US" sz="15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благодаря фокусу на качество и возможность подробного описания товаров, Ozon идеально подходит для продажи продуктов, требующих детального изучения характеристик, а также для уникальных или узкоспециализированных предложений.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91828"/>
            <a:ext cx="934962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СИЛЬНЫЕ СТОРОНЫ ЯНДЕКС МАРКЕТ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308741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Яндекс Маркет, как часть огромной экосистемы Яндекса, предлагает уникальные преимущества, особенно для тех продавцов, кто готов активно управлять своим присутствием на платформе.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93790" y="3167063"/>
            <a:ext cx="13042821" cy="3493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Интеграция с экосистемой Яндекса:</a:t>
            </a:r>
            <a:r>
              <a:rPr lang="en-US" sz="15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это одно из главных преимуществ. Ваши товары могут быть интегрированы с поисковыми запросами, Яндекс.Картами, Яндекс.Директом и другими сервисами, что обеспечивает дополнительный трафик и видимость.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Гибкие инструменты аналитики и продвижения:</a:t>
            </a:r>
            <a:r>
              <a:rPr lang="en-US" sz="15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Яндекс Маркет предоставляет мощные инструменты для анализа продаж, поведения покупателей и эффективности рекламных кампаний, позволяя продавцам тонко настраивать свои стратегии. Возможность использовать рекламные форматы Яндекса напрямую на площадке.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Лояльная модерация и удобный личный кабинет:</a:t>
            </a:r>
            <a:r>
              <a:rPr lang="en-US" sz="15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многие продавцы отмечают более лояльное отношение модерации и интуитивно понятный личный кабинет, что упрощает работу и позволяет быстрее решать возникающие вопросы.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Подходит для продавцов, готовых самостоятельно управлять логистикой:</a:t>
            </a:r>
            <a:r>
              <a:rPr lang="en-US" sz="15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благодаря модели DBS, Яндекс Маркет идеален для тех, у кого уже есть своя отлаженная логистическая инфраструктура. Это даёт полный контроль над сроками и качеством доставки.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Потенциал роста:</a:t>
            </a:r>
            <a:r>
              <a:rPr lang="en-US" sz="15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как самый молодой из трёх гигантов, Яндекс Маркет активно развивается и привлекает новых покупателей, что создаёт хорошие возможности для тех, кто ищет площадку с высоким потенциалом для долгосрочного роста.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8308" y="969050"/>
            <a:ext cx="8693348" cy="520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МИНУСЫ И РИСКИ КАЖДОЙ ПЛОЩАДКИ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748308" y="1768912"/>
            <a:ext cx="13133784" cy="490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Выбор маркетплейса требует всестороннего анализа, включая и потенциальные недостатки, которые могут повлиять на ваш бизнес. Знание этих рисков позволит вам разработать стратегии их минимизации.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48308" y="2416135"/>
            <a:ext cx="4284821" cy="4844296"/>
          </a:xfrm>
          <a:prstGeom prst="roundRect">
            <a:avLst>
              <a:gd name="adj" fmla="val 583"/>
            </a:avLst>
          </a:prstGeom>
          <a:solidFill>
            <a:srgbClr val="D8D9D2"/>
          </a:solidFill>
          <a:ln/>
        </p:spPr>
      </p:sp>
      <p:sp>
        <p:nvSpPr>
          <p:cNvPr id="5" name="Shape 3"/>
          <p:cNvSpPr/>
          <p:nvPr/>
        </p:nvSpPr>
        <p:spPr>
          <a:xfrm>
            <a:off x="914757" y="2582585"/>
            <a:ext cx="499586" cy="499586"/>
          </a:xfrm>
          <a:prstGeom prst="roundRect">
            <a:avLst>
              <a:gd name="adj" fmla="val 18301325"/>
            </a:avLst>
          </a:prstGeom>
          <a:solidFill>
            <a:srgbClr val="C8CAC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2155" y="2719983"/>
            <a:ext cx="224790" cy="2247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757" y="3221831"/>
            <a:ext cx="2081808" cy="260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WILDBERRIES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757" y="3565922"/>
            <a:ext cx="3951923" cy="2450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Высокая конкуренция по цене:</a:t>
            </a:r>
            <a:r>
              <a:rPr lang="en-US" sz="13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постоянные акции и фокус на низкие цены создают давление на маржинальность.</a:t>
            </a:r>
            <a:endParaRPr lang="en-US" sz="1300" dirty="0"/>
          </a:p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Сложная система штрафов:</a:t>
            </a:r>
            <a:r>
              <a:rPr lang="en-US" sz="13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множество правил и частые изменения могут привести к неожиданным штрафам.</a:t>
            </a:r>
            <a:endParaRPr lang="en-US" sz="1300" dirty="0"/>
          </a:p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Ограниченный прямой контакт с покупателем:</a:t>
            </a:r>
            <a:r>
              <a:rPr lang="en-US" sz="13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платформа минимизирует прямое взаимодействие продавца и клиента, что затрудняет построение лояльности бренду.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172789" y="2416135"/>
            <a:ext cx="4284821" cy="4844296"/>
          </a:xfrm>
          <a:prstGeom prst="roundRect">
            <a:avLst>
              <a:gd name="adj" fmla="val 583"/>
            </a:avLst>
          </a:prstGeom>
          <a:solidFill>
            <a:srgbClr val="D8D9D2"/>
          </a:solidFill>
          <a:ln/>
        </p:spPr>
      </p:sp>
      <p:sp>
        <p:nvSpPr>
          <p:cNvPr id="10" name="Shape 7"/>
          <p:cNvSpPr/>
          <p:nvPr/>
        </p:nvSpPr>
        <p:spPr>
          <a:xfrm>
            <a:off x="5339239" y="2582585"/>
            <a:ext cx="499586" cy="499586"/>
          </a:xfrm>
          <a:prstGeom prst="roundRect">
            <a:avLst>
              <a:gd name="adj" fmla="val 18301325"/>
            </a:avLst>
          </a:prstGeom>
          <a:solidFill>
            <a:srgbClr val="C8CAC1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76637" y="2719983"/>
            <a:ext cx="224790" cy="2247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39239" y="3221831"/>
            <a:ext cx="2081808" cy="260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OZON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339239" y="3565922"/>
            <a:ext cx="3951923" cy="2695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Строгие требования к качеству:</a:t>
            </a:r>
            <a:r>
              <a:rPr lang="en-US" sz="13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Ozon очень требователен к качеству карточек товаров, их описанию и сервису, что может потребовать значительных ресурсов.</a:t>
            </a:r>
            <a:endParaRPr lang="en-US" sz="1300" dirty="0"/>
          </a:p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Высокая конкуренция в топовых категориях:</a:t>
            </a:r>
            <a:r>
              <a:rPr lang="en-US" sz="13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популярность площадки приводит к ожесточенной конкуренции за внимание покупателя в самых востребованных нишах.</a:t>
            </a:r>
            <a:endParaRPr lang="en-US" sz="1300" dirty="0"/>
          </a:p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Комиссии за хранение:</a:t>
            </a:r>
            <a:r>
              <a:rPr lang="en-US" sz="13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могут стать значительной статьёй расходов для товаров с низкой оборачиваемостью.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9597271" y="2416135"/>
            <a:ext cx="4284821" cy="4844296"/>
          </a:xfrm>
          <a:prstGeom prst="roundRect">
            <a:avLst>
              <a:gd name="adj" fmla="val 583"/>
            </a:avLst>
          </a:prstGeom>
          <a:solidFill>
            <a:srgbClr val="D8D9D2"/>
          </a:solidFill>
          <a:ln/>
        </p:spPr>
      </p:sp>
      <p:sp>
        <p:nvSpPr>
          <p:cNvPr id="15" name="Shape 11"/>
          <p:cNvSpPr/>
          <p:nvPr/>
        </p:nvSpPr>
        <p:spPr>
          <a:xfrm>
            <a:off x="9763720" y="2582585"/>
            <a:ext cx="499586" cy="499586"/>
          </a:xfrm>
          <a:prstGeom prst="roundRect">
            <a:avLst>
              <a:gd name="adj" fmla="val 18301325"/>
            </a:avLst>
          </a:prstGeom>
          <a:solidFill>
            <a:srgbClr val="C8CAC1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01118" y="2719983"/>
            <a:ext cx="224790" cy="22479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763720" y="3221831"/>
            <a:ext cx="2081808" cy="260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ЯНДЕКС МАРКЕТ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9763720" y="3565922"/>
            <a:ext cx="3951923" cy="3430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Необходимость самостоятельно организовывать доставку (DBS):</a:t>
            </a:r>
            <a:r>
              <a:rPr lang="en-US" sz="13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это требует развитой логистической инфраструктуры и операционных мощностей, что может быть не под силу всем продавцам.</a:t>
            </a:r>
            <a:endParaRPr lang="en-US" sz="1300" dirty="0"/>
          </a:p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Меньше трафика по сравнению с WB и Ozon:</a:t>
            </a:r>
            <a:r>
              <a:rPr lang="en-US" sz="13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несмотря на рост, общий объем аудитории пока уступает лидерам рынка, что может означать меньшее количество заказов для некоторых категорий.</a:t>
            </a:r>
            <a:endParaRPr lang="en-US" sz="1300" dirty="0"/>
          </a:p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Зависимость от экосистемы Яндекса:</a:t>
            </a:r>
            <a:r>
              <a:rPr lang="en-US" sz="13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изменения в алгоритмах поиска или рекламных политиках Яндекса могут напрямую влиять на видимость ваших товаров.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67941"/>
            <a:ext cx="6729055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ИТОГИ И РЕКОМЕНДАЦИИ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684853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Выбор маркетплейса — это не выбор лучшей или худшей платформы, а выбор наиболее подходящей для вашей бизнес-модели, типа товара и стратегических целей. Тщательный анализ всех факторов поможет вам максимизировать продажи и обеспечить устойчивый рост.</a:t>
            </a:r>
            <a:endParaRPr lang="en-US" sz="1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543175"/>
            <a:ext cx="4347567" cy="79379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92148" y="353532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WILDBERRIES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992148" y="3964543"/>
            <a:ext cx="3950851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Идеально подходит для быстрого масштабирования продаж в массовых категориях с высокой оборачиваемостью. Если ваш товар — это одежда, обувь, косметика или товары для дома, и вы готовы к ценовой конкуренции, Wildberries предоставит вам огромный трафик и широкое региональное покрытие.</a:t>
            </a:r>
            <a:endParaRPr lang="en-US" sz="15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1357" y="2543175"/>
            <a:ext cx="4347567" cy="79379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39715" y="353532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OZON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5339715" y="3964543"/>
            <a:ext cx="3950851" cy="2222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Станет лучшим выбором для продавцов, ориентированных на надёжность, высокое качество сервиса и работу со сложными или нишевыми товарами, такими как электроника или бытовая техника. Здесь ценятся детальные описания и проактивное отношение к покупателям.</a:t>
            </a:r>
            <a:endParaRPr lang="en-US" sz="15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8924" y="2543175"/>
            <a:ext cx="4347567" cy="79379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87282" y="353532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ЯНДЕКС МАРКЕТ</a:t>
            </a:r>
            <a:endParaRPr lang="en-US" sz="1950" dirty="0"/>
          </a:p>
        </p:txBody>
      </p:sp>
      <p:sp>
        <p:nvSpPr>
          <p:cNvPr id="12" name="Text 7"/>
          <p:cNvSpPr/>
          <p:nvPr/>
        </p:nvSpPr>
        <p:spPr>
          <a:xfrm>
            <a:off x="9687282" y="3964543"/>
            <a:ext cx="3950851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Отлично подойдёт для технологичных продавцов, у которых есть возможность самостоятельно управлять логистикой или интегрировать свои системы. Если вы цените гибкие аналитические инструменты и возможность интеграции с экосистемой Яндекса, эта площадка может стать вашим стратегическим партнёром.</a:t>
            </a:r>
            <a:endParaRPr lang="en-US" sz="1550" dirty="0"/>
          </a:p>
        </p:txBody>
      </p:sp>
      <p:sp>
        <p:nvSpPr>
          <p:cNvPr id="13" name="Text 8"/>
          <p:cNvSpPr/>
          <p:nvPr/>
        </p:nvSpPr>
        <p:spPr>
          <a:xfrm>
            <a:off x="793790" y="6926461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Выбирайте маркетплейс под ваш товар и бизнес-модель — и масштабируйтесь эффективно!</a:t>
            </a:r>
            <a:r>
              <a:rPr lang="en-US" sz="15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Помните, что лучший подход — это диверсификация и присутствие на нескольких площадках, если это позволяет ваша стратегия.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1777</Words>
  <Application>Microsoft Office PowerPoint</Application>
  <PresentationFormat>Произвольный</PresentationFormat>
  <Paragraphs>100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Roboto Condensed</vt:lpstr>
      <vt:lpstr>Arial</vt:lpstr>
      <vt:lpstr>Hubot Sans Bold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Пользователь</dc:creator>
  <cp:lastModifiedBy> </cp:lastModifiedBy>
  <cp:revision>2</cp:revision>
  <dcterms:created xsi:type="dcterms:W3CDTF">2026-02-01T09:50:12Z</dcterms:created>
  <dcterms:modified xsi:type="dcterms:W3CDTF">2026-02-01T09:52:30Z</dcterms:modified>
</cp:coreProperties>
</file>