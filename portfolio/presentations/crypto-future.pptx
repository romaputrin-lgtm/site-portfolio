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Instrument Sans Medium" panose="020B0604020202020204" charset="0"/>
      <p:regular r:id="rId15"/>
    </p:embeddedFont>
    <p:embeddedFont>
      <p:font typeface="Open Sans" panose="020B0604020202020204" charset="0"/>
      <p:regular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5436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Криптовалюты и будущее финансовой системы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Блокчейн, биткоин, CBDC и регулирование — ключевые элементы грядущей трансформации.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6710"/>
            <a:ext cx="116438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Рождение новой эры: Биткоин и блокчейн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59117"/>
            <a:ext cx="1501854" cy="1501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22458" y="2459117"/>
            <a:ext cx="242994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Начало криптореволюции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522458" y="3658195"/>
            <a:ext cx="2429947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Январь 2009 года ознаменовался запуском первого блока биткоина, положившего начало децентрализованной финансовой революции.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459117"/>
            <a:ext cx="1501854" cy="15018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64561" y="2459117"/>
            <a:ext cx="24299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Децентрализованный реестр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964561" y="3303865"/>
            <a:ext cx="2429947" cy="3629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Технология блокчейна изменила наше представление о доверии и безопасности, предлагая прозрачный и неизменяемый способ записи транзакций.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459117"/>
            <a:ext cx="1501854" cy="15018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06664" y="2459117"/>
            <a:ext cx="24299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Масштабы транзакций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1406664" y="3303865"/>
            <a:ext cx="2429947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 2024 году объем транзакций со стейблкоинами превысил $27,6 трлн, превзойдя объемы Visa и Mastercard вместе взятых.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1120854"/>
            <a:ext cx="782550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Цифровые валюты центробангов (CBDC): что это и зачем?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402449" y="2148245"/>
            <a:ext cx="2559010" cy="1054179"/>
          </a:xfrm>
          <a:prstGeom prst="roundRect">
            <a:avLst>
              <a:gd name="adj" fmla="val 6939"/>
            </a:avLst>
          </a:prstGeom>
          <a:solidFill>
            <a:srgbClr val="1F1F1F"/>
          </a:solidFill>
          <a:ln/>
        </p:spPr>
      </p:sp>
      <p:sp>
        <p:nvSpPr>
          <p:cNvPr id="4" name="Shape 2"/>
          <p:cNvSpPr/>
          <p:nvPr/>
        </p:nvSpPr>
        <p:spPr>
          <a:xfrm>
            <a:off x="3402449" y="2133005"/>
            <a:ext cx="2559010" cy="60960"/>
          </a:xfrm>
          <a:prstGeom prst="roundRect">
            <a:avLst>
              <a:gd name="adj" fmla="val 27907"/>
            </a:avLst>
          </a:prstGeom>
          <a:solidFill>
            <a:srgbClr val="F5F547"/>
          </a:solidFill>
          <a:ln/>
        </p:spPr>
      </p:sp>
      <p:sp>
        <p:nvSpPr>
          <p:cNvPr id="5" name="Shape 3"/>
          <p:cNvSpPr/>
          <p:nvPr/>
        </p:nvSpPr>
        <p:spPr>
          <a:xfrm>
            <a:off x="4511814" y="1978223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F5F547"/>
          </a:solidFill>
          <a:ln/>
        </p:spPr>
      </p:sp>
      <p:sp>
        <p:nvSpPr>
          <p:cNvPr id="6" name="Text 4"/>
          <p:cNvSpPr/>
          <p:nvPr/>
        </p:nvSpPr>
        <p:spPr>
          <a:xfrm>
            <a:off x="4613850" y="2063234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531037" y="243173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Что такое CBDC?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31037" y="2665571"/>
            <a:ext cx="2301835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Цифровая версия национальной валюты, выпускаемая и контролируемая государством.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02449" y="3429119"/>
            <a:ext cx="2559010" cy="1054179"/>
          </a:xfrm>
          <a:prstGeom prst="roundRect">
            <a:avLst>
              <a:gd name="adj" fmla="val 6939"/>
            </a:avLst>
          </a:prstGeom>
          <a:solidFill>
            <a:srgbClr val="1F1F1F"/>
          </a:solidFill>
          <a:ln/>
        </p:spPr>
      </p:sp>
      <p:sp>
        <p:nvSpPr>
          <p:cNvPr id="10" name="Shape 8"/>
          <p:cNvSpPr/>
          <p:nvPr/>
        </p:nvSpPr>
        <p:spPr>
          <a:xfrm>
            <a:off x="3402449" y="3413879"/>
            <a:ext cx="2559010" cy="60960"/>
          </a:xfrm>
          <a:prstGeom prst="roundRect">
            <a:avLst>
              <a:gd name="adj" fmla="val 27907"/>
            </a:avLst>
          </a:prstGeom>
          <a:solidFill>
            <a:srgbClr val="F5F547"/>
          </a:solidFill>
          <a:ln/>
        </p:spPr>
      </p:sp>
      <p:sp>
        <p:nvSpPr>
          <p:cNvPr id="11" name="Shape 9"/>
          <p:cNvSpPr/>
          <p:nvPr/>
        </p:nvSpPr>
        <p:spPr>
          <a:xfrm>
            <a:off x="4511814" y="3259098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F5F547"/>
          </a:solidFill>
          <a:ln/>
        </p:spPr>
      </p:sp>
      <p:sp>
        <p:nvSpPr>
          <p:cNvPr id="12" name="Text 10"/>
          <p:cNvSpPr/>
          <p:nvPr/>
        </p:nvSpPr>
        <p:spPr>
          <a:xfrm>
            <a:off x="4613850" y="3344108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31037" y="3712607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Два типа CBDC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31037" y="3946446"/>
            <a:ext cx="2301835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Различают розничные (для населения) и оптовые (для банков и крупных финансовых учреждений) CBDC.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02449" y="4709993"/>
            <a:ext cx="2559010" cy="1054179"/>
          </a:xfrm>
          <a:prstGeom prst="roundRect">
            <a:avLst>
              <a:gd name="adj" fmla="val 6939"/>
            </a:avLst>
          </a:prstGeom>
          <a:solidFill>
            <a:srgbClr val="1F1F1F"/>
          </a:solidFill>
          <a:ln/>
        </p:spPr>
      </p:sp>
      <p:sp>
        <p:nvSpPr>
          <p:cNvPr id="16" name="Shape 14"/>
          <p:cNvSpPr/>
          <p:nvPr/>
        </p:nvSpPr>
        <p:spPr>
          <a:xfrm>
            <a:off x="3402449" y="4694753"/>
            <a:ext cx="2559010" cy="60960"/>
          </a:xfrm>
          <a:prstGeom prst="roundRect">
            <a:avLst>
              <a:gd name="adj" fmla="val 27907"/>
            </a:avLst>
          </a:prstGeom>
          <a:solidFill>
            <a:srgbClr val="F5F547"/>
          </a:solidFill>
          <a:ln/>
        </p:spPr>
      </p:sp>
      <p:sp>
        <p:nvSpPr>
          <p:cNvPr id="17" name="Shape 15"/>
          <p:cNvSpPr/>
          <p:nvPr/>
        </p:nvSpPr>
        <p:spPr>
          <a:xfrm>
            <a:off x="4511814" y="4539972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F5F547"/>
          </a:solidFill>
          <a:ln/>
        </p:spPr>
      </p:sp>
      <p:sp>
        <p:nvSpPr>
          <p:cNvPr id="18" name="Text 16"/>
          <p:cNvSpPr/>
          <p:nvPr/>
        </p:nvSpPr>
        <p:spPr>
          <a:xfrm>
            <a:off x="4613850" y="4624983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31037" y="499348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Ключевые цели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31037" y="5227320"/>
            <a:ext cx="2301835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Ускорение платежей, повышение финансовой инклюзивности, снижение издержек и увеличение прозрачности.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02449" y="5990868"/>
            <a:ext cx="2559010" cy="1054179"/>
          </a:xfrm>
          <a:prstGeom prst="roundRect">
            <a:avLst>
              <a:gd name="adj" fmla="val 6939"/>
            </a:avLst>
          </a:prstGeom>
          <a:solidFill>
            <a:srgbClr val="1F1F1F"/>
          </a:solidFill>
          <a:ln/>
        </p:spPr>
      </p:sp>
      <p:sp>
        <p:nvSpPr>
          <p:cNvPr id="22" name="Shape 20"/>
          <p:cNvSpPr/>
          <p:nvPr/>
        </p:nvSpPr>
        <p:spPr>
          <a:xfrm>
            <a:off x="3402449" y="5975628"/>
            <a:ext cx="2559010" cy="60960"/>
          </a:xfrm>
          <a:prstGeom prst="roundRect">
            <a:avLst>
              <a:gd name="adj" fmla="val 27907"/>
            </a:avLst>
          </a:prstGeom>
          <a:solidFill>
            <a:srgbClr val="F5F547"/>
          </a:solidFill>
          <a:ln/>
        </p:spPr>
      </p:sp>
      <p:sp>
        <p:nvSpPr>
          <p:cNvPr id="23" name="Shape 21"/>
          <p:cNvSpPr/>
          <p:nvPr/>
        </p:nvSpPr>
        <p:spPr>
          <a:xfrm>
            <a:off x="4511814" y="5820847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F5F547"/>
          </a:solidFill>
          <a:ln/>
        </p:spPr>
      </p:sp>
      <p:sp>
        <p:nvSpPr>
          <p:cNvPr id="24" name="Text 22"/>
          <p:cNvSpPr/>
          <p:nvPr/>
        </p:nvSpPr>
        <p:spPr>
          <a:xfrm>
            <a:off x="4613850" y="5905857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31037" y="6274356"/>
            <a:ext cx="177450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Пример: Цифровой рубль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31037" y="6508194"/>
            <a:ext cx="2301835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Проект Банка России на 2025–2027 годы, призванный модернизировать национальную платежную систему.</a:t>
            </a:r>
            <a:endParaRPr lang="en-US" sz="85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616" y="3368635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160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Криптовалюты vs CBDC: вызовы и возможности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3179326"/>
            <a:ext cx="6571417" cy="2647712"/>
          </a:xfrm>
          <a:prstGeom prst="roundRect">
            <a:avLst>
              <a:gd name="adj" fmla="val 1285"/>
            </a:avLst>
          </a:prstGeom>
          <a:solidFill>
            <a:srgbClr val="F5F547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340614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Криптовалюты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857250" y="4058245"/>
            <a:ext cx="6117788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Децентрализация и анонимность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Высокая волатильность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Системные риски для финансовой стабильности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Отсутствие единого регулирования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40614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CBDC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599521" y="4058245"/>
            <a:ext cx="6244709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Централизованный государственный контроль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Стабильность и программируемость платежей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Усиление монетарного суверенитета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Модернизация экономики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60659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Выбор между децентрализованной свободой и централизованной стабильностью формирует будущее финансовых систем.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1690"/>
            <a:ext cx="125331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Регулирование криптовалют в России и мире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0409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659142"/>
            <a:ext cx="6407944" cy="3048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8334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Концепция ЦБ РФ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323868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Декабрь 2025 года — ожидается публикация концепции регулирования, направленной на баланс между инновациями и контролем.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30409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659142"/>
            <a:ext cx="6408063" cy="3048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28334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ФЗ №259-ФЗ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323868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 поправками 2025 года регулирует цифровые финансовые активы в России, закладывая основу правового поля.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Мировой опыт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829181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 полного запрета в Китае до интеграции и стимулирования в ЕС и США — подходы к регулированию сильно разнятся.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Ключевые вызовы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829181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Борьба с отмыванием денег, защита прав инвесторов и предотвращение мошенничества остаются приоритетами.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4694"/>
            <a:ext cx="114577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Текущие тренды и перспективы развития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527102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2527102"/>
            <a:ext cx="53491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Токенизация реальных активов (RWA)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017520"/>
            <a:ext cx="552914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Блокчейн позволяет токенизировать физические активы, такие как золото, недвижимость и инфраструктура, открывая новые инвестиционные возможности.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6884" y="2527102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2527102"/>
            <a:ext cx="39098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Рост DeFi и новых экосистем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3017520"/>
            <a:ext cx="552926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Децентрализованные финансовые системы развиваются, предлагая компромиссы между децентрализацией, безопасностью и функциональностью.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Интеграция CBDC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5413177"/>
            <a:ext cx="552914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Цифровые валюты центробанков интегрируются с традиционными и международными платежными системами, упрощая трансграничные расчеты.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Вызовы будущего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5413177"/>
            <a:ext cx="552926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Кибербезопасность, конфиденциальность данных и технологическая независимость остаются критически важными аспектами развития.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2247" y="459581"/>
            <a:ext cx="5726787" cy="501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Ключевые игроки и примеры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247" y="1187291"/>
            <a:ext cx="11065907" cy="6236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44055" y="1727650"/>
            <a:ext cx="2049534" cy="613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Центральный банк РФ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044055" y="2428089"/>
            <a:ext cx="2049534" cy="41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Регулирование и исследования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547441" y="1727650"/>
            <a:ext cx="2038632" cy="306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Биткоин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547441" y="2121477"/>
            <a:ext cx="2038632" cy="41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Децентрализованное влияние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120537" y="5743252"/>
            <a:ext cx="1973222" cy="613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Международные CBDC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120537" y="6443691"/>
            <a:ext cx="1973222" cy="41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e‑CNY, Цифровой евро, USD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482030" y="5743252"/>
            <a:ext cx="2104043" cy="613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Криптоиндустрия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0482030" y="6443691"/>
            <a:ext cx="2104043" cy="41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Инновации и инфраструктура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782247" y="7551063"/>
            <a:ext cx="11065907" cy="218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Эти примеры демонстрируют разнообразие подходов и скорость развития цифровых финансовых инструментов в мире.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586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Заключение: будущее финансов — гибрид цифровых валют и технологий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3352205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Вопрос не в исчезновении криптовалют, а в том, как они трансформируют мир финансов.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97054"/>
            <a:ext cx="30480" cy="873204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4225409"/>
            <a:ext cx="13042821" cy="254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Неотъемлемая часть экономики:</a:t>
            </a: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Криптовалюты и блокчейн вышли за рамки ниши и стали частью глобального финансового ландшафта.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Инструмент модернизации:</a:t>
            </a: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CBDC служат инструментом для государств по модернизации экономики и сохранению контроля над финансовой системой.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Ключ к развитию:</a:t>
            </a: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Эффективное регулирование является залогом устойчивого развития рынка и защиты его участников.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Симбиоз будущего:</a:t>
            </a: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Финансовая система будущего — это симбиоз децентрализации, цифровизации и доверия.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522</Words>
  <Application>Microsoft Office PowerPoint</Application>
  <PresentationFormat>Произвольный</PresentationFormat>
  <Paragraphs>80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Instrument Sans Light</vt:lpstr>
      <vt:lpstr>Instrument Sans Medium</vt:lpstr>
      <vt:lpstr>Arial</vt:lpstr>
      <vt:lpstr>Open Sans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Пользователь</dc:creator>
  <cp:lastModifiedBy> </cp:lastModifiedBy>
  <cp:revision>2</cp:revision>
  <dcterms:created xsi:type="dcterms:W3CDTF">2026-02-01T09:12:24Z</dcterms:created>
  <dcterms:modified xsi:type="dcterms:W3CDTF">2026-02-01T09:13:30Z</dcterms:modified>
</cp:coreProperties>
</file>